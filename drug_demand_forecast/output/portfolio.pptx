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188720"/>
            <a:ext cx="941832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164592" cy="32004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1417320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약물 수요 예측 데이터 분석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212848"/>
            <a:ext cx="8778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서울시 25개 구  ·  A10A(인슐린) / A10B(혈당강하제)  ·  월별 처방량 시계열 예측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2788920"/>
            <a:ext cx="8686800" cy="27432"/>
          </a:xfrm>
          <a:prstGeom prst="rect">
            <a:avLst/>
          </a:prstGeom>
          <a:solidFill>
            <a:srgbClr val="A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2926080"/>
            <a:ext cx="2560320" cy="6858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8" y="29535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32186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처방 + 인구 데이터  25개월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926080"/>
            <a:ext cx="2560320" cy="6858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9535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32186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XGBoost  ·  LightGBM  ·  Optuna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0" y="2926080"/>
            <a:ext cx="2560320" cy="6858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8" y="29535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32186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Best MAPE  12.08%  (XGBoost 튜닝)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EBE"/>
                </a:solidFill>
              </a:rPr>
              <a:t>Python  |  pandas  ·  XGBoost  ·  LightGBM  ·  Optuna  ·  scikit-learn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EBE"/>
                </a:solidFill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EBE"/>
                </a:solidFill>
              </a:rPr>
              <a:t>2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66928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66928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161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분석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17904"/>
            <a:ext cx="5486400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0E8F0"/>
                </a:solidFill>
              </a:rPr>
              <a:t>지역별(시군구) 약물 처방 수량 데이터와</a:t>
            </a:r>
          </a:p>
          <a:p>
            <a:pPr algn="l"/>
            <a:r>
              <a:rPr sz="1300">
                <a:solidFill>
                  <a:srgbClr val="E0E8F0"/>
                </a:solidFill>
              </a:rPr>
              <a:t>인구 데이터를 결합하여 월별 처방량을</a:t>
            </a:r>
          </a:p>
          <a:p>
            <a:pPr algn="l"/>
            <a:r>
              <a:rPr sz="1300">
                <a:solidFill>
                  <a:srgbClr val="E0E8F0"/>
                </a:solidFill>
              </a:rPr>
              <a:t>예측하는 시계열 모델 구축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143000"/>
            <a:ext cx="566928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143000"/>
            <a:ext cx="5669280" cy="381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2161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96"/>
                </a:solidFill>
              </a:rPr>
              <a:t>분석 범위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517904"/>
            <a:ext cx="5486400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0E8F0"/>
                </a:solidFill>
              </a:rPr>
              <a:t>대상 지역: 서울시 25개 구</a:t>
            </a:r>
          </a:p>
          <a:p>
            <a:pPr algn="l"/>
            <a:r>
              <a:rPr sz="1300">
                <a:solidFill>
                  <a:srgbClr val="E0E8F0"/>
                </a:solidFill>
              </a:rPr>
              <a:t>분석 기간: 2023-10 ~ 2025-10 (25개월)</a:t>
            </a:r>
          </a:p>
          <a:p>
            <a:pPr algn="l"/>
            <a:r>
              <a:rPr sz="1300">
                <a:solidFill>
                  <a:srgbClr val="E0E8F0"/>
                </a:solidFill>
              </a:rPr>
              <a:t>약물: A10A(인슐린), A10B(혈당강하제)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566928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5669280" cy="381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7764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</a:rPr>
              <a:t>예측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078224"/>
            <a:ext cx="5486400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0E8F0"/>
                </a:solidFill>
              </a:rPr>
              <a:t>시군구 단위 월별 처방 수량</a:t>
            </a:r>
          </a:p>
          <a:p>
            <a:pPr algn="l"/>
            <a:r>
              <a:rPr sz="1300">
                <a:solidFill>
                  <a:srgbClr val="E0E8F0"/>
                </a:solidFill>
              </a:rPr>
              <a:t>평가 지표: MAE / RMSE / MAPE / R²</a:t>
            </a:r>
          </a:p>
          <a:p>
            <a:pPr algn="l"/>
            <a:r>
              <a:rPr sz="1300">
                <a:solidFill>
                  <a:srgbClr val="E0E8F0"/>
                </a:solidFill>
              </a:rPr>
              <a:t>최종 목표: MAPE 15% 이하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703320"/>
            <a:ext cx="5669280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703320"/>
            <a:ext cx="566928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77647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분석 파이프라인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4078224"/>
            <a:ext cx="5486400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0E8F0"/>
                </a:solidFill>
              </a:rPr>
              <a:t>Step 1: EDA  →  Step 2: 전처리</a:t>
            </a:r>
          </a:p>
          <a:p>
            <a:pPr algn="l"/>
            <a:r>
              <a:rPr sz="1300">
                <a:solidFill>
                  <a:srgbClr val="E0E8F0"/>
                </a:solidFill>
              </a:rPr>
              <a:t>Step 3: 모델링  →  Step 4: 평가</a:t>
            </a:r>
          </a:p>
          <a:p>
            <a:pPr algn="l"/>
            <a:r>
              <a:rPr sz="1300">
                <a:solidFill>
                  <a:srgbClr val="E0E8F0"/>
                </a:solidFill>
              </a:rPr>
              <a:t>Step 5: 하이퍼파라미터 튜닝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데이터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Dataset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EBE"/>
                </a:solidFill>
              </a:rPr>
              <a:t>3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24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파일명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124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내용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1247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기간/기준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0876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5270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0B4D8"/>
                </a:solidFill>
              </a:rPr>
              <a:t>ATC코드3단계의_시군구별_*.xlsx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5270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A10A 월별 처방 수량·금액 (Wide형)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52704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BE"/>
                </a:solidFill>
              </a:rPr>
              <a:t>2023-10 ~ 2025-10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9456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2128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0B4D8"/>
                </a:solidFill>
              </a:rPr>
              <a:t>B_ATC코드3단계의_시군구별_*.xlsx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128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A10B 월별 처방 수량·금액 (Wide형)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21284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BE"/>
                </a:solidFill>
              </a:rPr>
              <a:t>2023-10 ~ 2025-10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8036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8986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0B4D8"/>
                </a:solidFill>
              </a:rPr>
              <a:t>시군구별_요양기관종별_*.xlsx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8986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요양기관 종류별 처방 수량·금액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89864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BE"/>
                </a:solidFill>
              </a:rPr>
              <a:t>2023-10 ~ 2025-10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6616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5844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0B4D8"/>
                </a:solidFill>
              </a:rPr>
              <a:t>상병별_*.xlsx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5844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상병코드별 처방 수량·금액·순위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58444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BE"/>
                </a:solidFill>
              </a:rPr>
              <a:t>2023-10 ~ 2025-10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5196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2702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0B4D8"/>
                </a:solidFill>
              </a:rPr>
              <a:t>연령별인구현황_월간.xlsx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2702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구별 성별·연령대별 거주 인구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427024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BE"/>
                </a:solidFill>
              </a:rPr>
              <a:t>2025-10 단일 스냅샷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37760"/>
            <a:ext cx="1143000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9560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0B4D8"/>
                </a:solidFill>
              </a:rPr>
              <a:t>주민등록인구및세대현황_월간.xlsx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956048"/>
            <a:ext cx="4069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8F0"/>
                </a:solidFill>
              </a:rPr>
              <a:t>구별 총인구·세대수·남여비율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95604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BE"/>
                </a:solidFill>
              </a:rPr>
              <a:t>2025-10 단일 스냅샷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687568"/>
            <a:ext cx="11430000" cy="5486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3328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총 8개 파일  |  처방 데이터 1,250행 (A10A + A10B × 25구 × 25개월)  |  인구 데이터 25구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EDA 주요 발견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EBE"/>
                </a:solidFill>
              </a:rPr>
              <a:t>4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4864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161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데이터 구조 파악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17904"/>
            <a:ext cx="5303520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0E8F0"/>
                </a:solidFill>
              </a:rPr>
              <a:t>원본 엑셀: 3~4행 멀티헤더 Wide 형식</a:t>
            </a:r>
          </a:p>
          <a:p>
            <a:pPr algn="l"/>
            <a:r>
              <a:rPr sz="1300">
                <a:solidFill>
                  <a:srgbClr val="E0E8F0"/>
                </a:solidFill>
              </a:rPr>
              <a:t>→ header=None으로 로드 후 수동 파싱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43000"/>
            <a:ext cx="54864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43000"/>
            <a:ext cx="5486400" cy="381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2161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96"/>
                </a:solidFill>
              </a:rPr>
              <a:t>시계열 추세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517904"/>
            <a:ext cx="5303520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0E8F0"/>
                </a:solidFill>
              </a:rPr>
              <a:t>A10B 처방량이 A10A 대비 약 160배 규모</a:t>
            </a:r>
          </a:p>
          <a:p>
            <a:pPr algn="l"/>
            <a:r>
              <a:rPr sz="1300">
                <a:solidFill>
                  <a:srgbClr val="E0E8F0"/>
                </a:solidFill>
              </a:rPr>
              <a:t>전체 기간 증가 추세 (25개월 관측)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46120"/>
            <a:ext cx="54864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548640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3192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인구 연계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621024"/>
            <a:ext cx="5303520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0E8F0"/>
                </a:solidFill>
              </a:rPr>
              <a:t>총인구 ↑ → 처방량 ↑ (양의 상관)</a:t>
            </a:r>
          </a:p>
          <a:p>
            <a:pPr algn="l"/>
            <a:r>
              <a:rPr sz="1300">
                <a:solidFill>
                  <a:srgbClr val="E0E8F0"/>
                </a:solidFill>
              </a:rPr>
              <a:t>고령인구비율 평균 27.9% (최대 35.0%)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246120"/>
            <a:ext cx="5486400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246120"/>
            <a:ext cx="5486400" cy="381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31927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</a:rPr>
              <a:t>상병별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621024"/>
            <a:ext cx="5303520" cy="1453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0E8F0"/>
                </a:solidFill>
              </a:rPr>
              <a:t>A10B 상위 상병: 2형 당뇨병(E11) 압도적</a:t>
            </a:r>
          </a:p>
          <a:p>
            <a:pPr algn="l"/>
            <a:r>
              <a:rPr sz="1300">
                <a:solidFill>
                  <a:srgbClr val="E0E8F0"/>
                </a:solidFill>
              </a:rPr>
              <a:t>의원이 처방 비중 100% 차지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03520"/>
            <a:ext cx="114300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34924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AEBE"/>
                </a:solidFill>
              </a:rPr>
              <a:t>생성 시각화 (7개): 월별 추세  ·  구별 분포  ·  인구 vs 처방량  ·  요양기관 종별  ·  상병별  ·  상관관계 히트맵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데이터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EBE"/>
                </a:solidFill>
              </a:rPr>
              <a:t>5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920240" cy="10058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61872"/>
            <a:ext cx="1783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Wide 형식
엑셀 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463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188720"/>
            <a:ext cx="1920240" cy="10058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6352" y="1261872"/>
            <a:ext cx="1783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Long 형식
변환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463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188720"/>
            <a:ext cx="1920240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1261872"/>
            <a:ext cx="1783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인구 데이터
병합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188720"/>
            <a:ext cx="1920240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1261872"/>
            <a:ext cx="1783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파생 변수
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4630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188720"/>
            <a:ext cx="1920240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2" y="1261872"/>
            <a:ext cx="17830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이상치
탐지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23160"/>
            <a:ext cx="3749039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423160"/>
            <a:ext cx="3749039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49631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마스터 데이터셋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2798064"/>
            <a:ext cx="3566159" cy="163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E0E8F0"/>
                </a:solidFill>
              </a:rPr>
              <a:t>shape: (1,250행 × 31컬럼)</a:t>
            </a:r>
          </a:p>
          <a:p>
            <a:pPr algn="l"/>
            <a:r>
              <a:rPr sz="1250">
                <a:solidFill>
                  <a:srgbClr val="E0E8F0"/>
                </a:solidFill>
              </a:rPr>
              <a:t>인구 병합 성공률: 100% (25/25구)</a:t>
            </a:r>
          </a:p>
          <a:p>
            <a:pPr algn="l"/>
            <a:r>
              <a:rPr sz="1250">
                <a:solidFill>
                  <a:srgbClr val="E0E8F0"/>
                </a:solidFill>
              </a:rPr>
              <a:t>결측치: 0건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2423160"/>
            <a:ext cx="3749039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2423160"/>
            <a:ext cx="3749039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25696" y="249631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파생 변수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25696" y="2798064"/>
            <a:ext cx="3566159" cy="163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E0E8F0"/>
                </a:solidFill>
              </a:rPr>
              <a:t>처방량_per_capita = 수량 / 총거주자수</a:t>
            </a:r>
          </a:p>
          <a:p>
            <a:pPr algn="l"/>
            <a:r>
              <a:rPr sz="1250">
                <a:solidFill>
                  <a:srgbClr val="E0E8F0"/>
                </a:solidFill>
              </a:rPr>
              <a:t>금액_per_capita   = 금액 / 총거주자수</a:t>
            </a:r>
          </a:p>
          <a:p>
            <a:pPr algn="l"/>
            <a:r>
              <a:rPr sz="1250">
                <a:solidFill>
                  <a:srgbClr val="E0E8F0"/>
                </a:solidFill>
              </a:rPr>
              <a:t>연도, 월 (기간_dt에서 추출)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6176" y="2423160"/>
            <a:ext cx="3749039" cy="2103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66176" y="2423160"/>
            <a:ext cx="3749039" cy="381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75904" y="249631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</a:rPr>
              <a:t>이상치 탐지 (IQR × 3)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2798064"/>
            <a:ext cx="3566159" cy="1636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E0E8F0"/>
                </a:solidFill>
              </a:rPr>
              <a:t>A10A: 11건  /  A10B: 11건</a:t>
            </a:r>
          </a:p>
          <a:p>
            <a:pPr algn="l"/>
            <a:r>
              <a:rPr sz="1250">
                <a:solidFill>
                  <a:srgbClr val="E0E8F0"/>
                </a:solidFill>
              </a:rPr>
              <a:t>제거 없이 기록 보존</a:t>
            </a:r>
          </a:p>
          <a:p>
            <a:pPr algn="l"/>
            <a:r>
              <a:rPr sz="1250">
                <a:solidFill>
                  <a:srgbClr val="E0E8F0"/>
                </a:solidFill>
              </a:rPr>
              <a:t>(시계열 연속성 유지 목적)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709160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저장 파일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074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8F0"/>
                </a:solidFill>
              </a:rPr>
              <a:t>· A10A_시군구별_long.csv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3309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8F0"/>
                </a:solidFill>
              </a:rPr>
              <a:t>· A10B_시군구별_long.csv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074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8F0"/>
                </a:solidFill>
              </a:rPr>
              <a:t>· population_gu.csv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3309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8F0"/>
                </a:solidFill>
              </a:rPr>
              <a:t>· merged_master.csv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코드 품질 관리 — 버그 수정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Data Leakage &amp; Evaluation Bias 제거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EBE"/>
                </a:solidFill>
              </a:rPr>
              <a:t>6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187451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164592" cy="1874519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E74C3C"/>
                </a:solidFill>
              </a:rPr>
              <a:t>[Critical]  데이터 누수 — lag1_pct_change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54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기존: (수량 − lag_1) / (lag_1 + 1)   →   예측 대상(수량)을 feature로 사용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574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수정: (lag_1 − lag_2) / (lag_2 + 1)  →   과거 정보만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46120"/>
            <a:ext cx="11430000" cy="187451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164592" cy="1874519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31927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39C12"/>
                </a:solidFill>
              </a:rPr>
              <a:t>[Major]  Early Stopping에 Test Set 사용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703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기존: eval_set=[(X_test, y_test)]  →  테스트 데이터 기준 조기 종료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206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수정: eval_set 제거, n_estimators 고정  →  정직한 학습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394960"/>
            <a:ext cx="11430000" cy="1874519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394960"/>
            <a:ext cx="164592" cy="1874519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4681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2ECC71"/>
                </a:solidFill>
              </a:rPr>
              <a:t>[Minor]  인구 데이터 집계 행 포함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852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기존: 행정기관코드 길이==10 필터  →  서울특별시 집계 행(1100000000) 통과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55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수정: ~endswith('00000000') 조건 추가  →  구 단위만 선택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16개 예측 변수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EBE"/>
                </a:solidFill>
              </a:rPr>
              <a:t>7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749039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749039" cy="381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21615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96"/>
                </a:solidFill>
              </a:rPr>
              <a:t>Lag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517904"/>
            <a:ext cx="3566159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0E8F0"/>
                </a:solidFill>
              </a:rPr>
              <a:t>lag_1  : 1개월 전 처방량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lag_2  : 2개월 전 처방량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lag_3  : 3개월 전 처방량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143000"/>
            <a:ext cx="3749039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143000"/>
            <a:ext cx="3749039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121615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Rolling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1517904"/>
            <a:ext cx="3566159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0E8F0"/>
                </a:solidFill>
              </a:rPr>
              <a:t>rolling_mean_3 : 직전 3개월 이동 평균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rolling_std_3  : 직전 3개월 이동 표준편차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lag1_pct_change: 전월 대비 증감률 (수정)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19" y="1143000"/>
            <a:ext cx="3749039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19" y="1143000"/>
            <a:ext cx="3749039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7" y="121615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시간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7" y="1517904"/>
            <a:ext cx="3566159" cy="1865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0E8F0"/>
                </a:solidFill>
              </a:rPr>
              <a:t>month_sin : 월 계절성 (sin 변환)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month_cos : 월 계절성 (cos 변환)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연도, 월  : 연도·월 정수값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30168"/>
            <a:ext cx="3749039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30168"/>
            <a:ext cx="3749039" cy="381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703320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</a:rPr>
              <a:t>인구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4005072"/>
            <a:ext cx="356615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0E8F0"/>
                </a:solidFill>
              </a:rPr>
              <a:t>총거주자수, 세대당인구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남여비율, 고령인구비율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(2025-10 스냅샷 — 전 기간 공통 적용)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3630168"/>
            <a:ext cx="3749039" cy="2331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3630168"/>
            <a:ext cx="3749039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7" y="3703320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인코딩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7" y="4005072"/>
            <a:ext cx="3566159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0E8F0"/>
                </a:solidFill>
              </a:rPr>
              <a:t>gu_encoded   : 구명칭 → 정수 (Label Encoding)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drug_encoded : A10A=0 / A10B=1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080760"/>
            <a:ext cx="11430000" cy="5029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10819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Train: 2024-01 ~ 2025-04  (800행)    |    Test: 2025-05 ~ 2025-10  (300행, 6개월)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모델링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Linear Regression  →  XGBoost  →  LightGBM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EBE"/>
                </a:solidFill>
              </a:rPr>
              <a:t>8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429000" cy="1645920"/>
          </a:xfrm>
          <a:prstGeom prst="rect">
            <a:avLst/>
          </a:prstGeom>
          <a:solidFill>
            <a:srgbClr val="A0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Linear
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기준 모델
(베이스라인)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88720"/>
            <a:ext cx="3429000" cy="16459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61872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트리 앙상블
과적합 방지 정규화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188720"/>
            <a:ext cx="342900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261872"/>
            <a:ext cx="3154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01168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Leaf-wise 트리
대용량 처리 최적화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17520"/>
            <a:ext cx="11430000" cy="4114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0449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모델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0449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0449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0449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04495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56432"/>
            <a:ext cx="11430000" cy="53949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483864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Linear Regression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483864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107,021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483864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159,186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483864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74C3C"/>
                </a:solidFill>
              </a:rPr>
              <a:t>194.39%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48386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0.99 (A10B 지배)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23359"/>
            <a:ext cx="11430000" cy="53949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050791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050791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 96,657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4050791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175,125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050791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CC71"/>
                </a:solidFill>
              </a:rPr>
              <a:t> 23.43%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050791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0.98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590288"/>
            <a:ext cx="11430000" cy="53949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6177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54680" y="46177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100,253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461772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176,079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461772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39C12"/>
                </a:solidFill>
              </a:rPr>
              <a:t> 37.47%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617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0.98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212080"/>
            <a:ext cx="1143000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23951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0AEBE"/>
                </a:solidFill>
              </a:rPr>
              <a:t>* 전체 R²가 높은 이유: A10B 규모(평균 213만 개/월)가 전체 분산을 지배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하이퍼파라미터 튜닝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Walk-forward CV  +  Optuna TPE Sampler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EBE"/>
                </a:solidFill>
              </a:rPr>
              <a:t>9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0352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30352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1615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Walk-forward CV 설계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17904"/>
            <a:ext cx="5120640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0E8F0"/>
                </a:solidFill>
              </a:rPr>
              <a:t>확장 윈도우 방식 (3-fold)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/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Fold 1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  Train: 2024-01 ~ 2024-07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  Val  : 2024-08 ~ 2024-10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/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Fold 2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  Train: 2024-01 ~ 2024-10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  Val  : 2024-11 ~ 2025-01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/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Fold 3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  Train: 2024-01 ~ 2025-01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  Val  : 2025-02 ~ 2025-04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/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목적: 미래 시점을 보지 않는</a:t>
            </a:r>
          </a:p>
          <a:p>
            <a:pPr algn="l"/>
            <a:r>
              <a:rPr sz="1200">
                <a:solidFill>
                  <a:srgbClr val="E0E8F0"/>
                </a:solidFill>
              </a:rPr>
              <a:t>시간 순서 준수 검증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143000"/>
            <a:ext cx="5806440" cy="2148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143000"/>
            <a:ext cx="5806440" cy="381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8" y="1216152"/>
            <a:ext cx="56235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96"/>
                </a:solidFill>
              </a:rPr>
              <a:t>Optuna 탐색 공간 (XGBoost)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1517904"/>
            <a:ext cx="5623559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E0E8F0"/>
                </a:solidFill>
              </a:rPr>
              <a:t>n_estimators : 100 ~ 800</a:t>
            </a:r>
          </a:p>
          <a:p>
            <a:pPr algn="l"/>
            <a:r>
              <a:rPr sz="1150">
                <a:solidFill>
                  <a:srgbClr val="E0E8F0"/>
                </a:solidFill>
              </a:rPr>
              <a:t>learning_rate: 0.01 ~ 0.30 (log)</a:t>
            </a:r>
          </a:p>
          <a:p>
            <a:pPr algn="l"/>
            <a:r>
              <a:rPr sz="1150">
                <a:solidFill>
                  <a:srgbClr val="E0E8F0"/>
                </a:solidFill>
              </a:rPr>
              <a:t>max_depth    : 3 ~ 8</a:t>
            </a:r>
          </a:p>
          <a:p>
            <a:pPr algn="l"/>
            <a:r>
              <a:rPr sz="1150">
                <a:solidFill>
                  <a:srgbClr val="E0E8F0"/>
                </a:solidFill>
              </a:rPr>
              <a:t>subsample    : 0.6 ~ 1.0</a:t>
            </a:r>
          </a:p>
          <a:p>
            <a:pPr algn="l"/>
            <a:r>
              <a:rPr sz="1150">
                <a:solidFill>
                  <a:srgbClr val="E0E8F0"/>
                </a:solidFill>
              </a:rPr>
              <a:t>colsample_by : 0.6 ~ 1.0</a:t>
            </a:r>
          </a:p>
          <a:p>
            <a:pPr algn="l"/>
            <a:r>
              <a:rPr sz="1150">
                <a:solidFill>
                  <a:srgbClr val="E0E8F0"/>
                </a:solidFill>
              </a:rPr>
              <a:t>reg_alpha    : 0.0 ~ 2.0</a:t>
            </a:r>
          </a:p>
          <a:p>
            <a:pPr algn="l"/>
            <a:r>
              <a:rPr sz="1150">
                <a:solidFill>
                  <a:srgbClr val="E0E8F0"/>
                </a:solidFill>
              </a:rPr>
              <a:t>reg_lambda   : 0.5 ~ 5.0</a:t>
            </a:r>
          </a:p>
          <a:p>
            <a:pPr algn="l"/>
            <a:r>
              <a:rPr sz="1150">
                <a:solidFill>
                  <a:srgbClr val="E0E8F0"/>
                </a:solidFill>
              </a:rPr>
              <a:t>min_child_w  : 1 ~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3429000"/>
            <a:ext cx="5806440" cy="2286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3429000"/>
            <a:ext cx="580644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8" y="3502152"/>
            <a:ext cx="56235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최적 파라미터 (XGBoost)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3803904"/>
            <a:ext cx="5623559" cy="1819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E0E8F0"/>
                </a:solidFill>
              </a:rPr>
              <a:t>n_estimators : 476</a:t>
            </a:r>
          </a:p>
          <a:p>
            <a:pPr algn="l"/>
            <a:r>
              <a:rPr sz="1150">
                <a:solidFill>
                  <a:srgbClr val="E0E8F0"/>
                </a:solidFill>
              </a:rPr>
              <a:t>learning_rate: 0.0320</a:t>
            </a:r>
          </a:p>
          <a:p>
            <a:pPr algn="l"/>
            <a:r>
              <a:rPr sz="1150">
                <a:solidFill>
                  <a:srgbClr val="E0E8F0"/>
                </a:solidFill>
              </a:rPr>
              <a:t>max_depth    : 8</a:t>
            </a:r>
          </a:p>
          <a:p>
            <a:pPr algn="l"/>
            <a:r>
              <a:rPr sz="1150">
                <a:solidFill>
                  <a:srgbClr val="E0E8F0"/>
                </a:solidFill>
              </a:rPr>
              <a:t>subsample    : 0.9815</a:t>
            </a:r>
          </a:p>
          <a:p>
            <a:pPr algn="l"/>
            <a:r>
              <a:rPr sz="1150">
                <a:solidFill>
                  <a:srgbClr val="E0E8F0"/>
                </a:solidFill>
              </a:rPr>
              <a:t>colsample_by : 0.6575</a:t>
            </a:r>
          </a:p>
          <a:p>
            <a:pPr algn="l"/>
            <a:r>
              <a:rPr sz="1150">
                <a:solidFill>
                  <a:srgbClr val="E0E8F0"/>
                </a:solidFill>
              </a:rPr>
              <a:t>reg_alpha    : 1.9566  /  reg_lambda: 1.4228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최종 성능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Tuning Results — XGBoost (Best)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EBE"/>
                </a:solidFill>
              </a:rPr>
              <a:t>10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3566160" cy="1691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전체 MAPE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12.08%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871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XGBoost 튜닝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3566160" cy="1691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070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A10A MAPE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57276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16.12%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4871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인슐린 예측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143000"/>
            <a:ext cx="3566160" cy="169164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20700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A10B MAPE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57276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8.04%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87168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혈당강하제 예측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71800"/>
            <a:ext cx="11430000" cy="38404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99008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모델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29900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99008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A10A MAPE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99008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A10B MAPE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990088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</a:rPr>
              <a:t>전체 MAPE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383280"/>
            <a:ext cx="11430000" cy="53949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410712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XGBoost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3410712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기본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3410712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38.45%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3410712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8.41%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41071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23.43%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50208"/>
            <a:ext cx="11430000" cy="539496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977639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3977639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튜닝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3977639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16.12%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977639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8.04%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97763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12.08%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517136"/>
            <a:ext cx="11430000" cy="53949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544568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LightGBM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454456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기본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454456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66.16%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54456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8.79%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544568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37.47%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084064"/>
            <a:ext cx="11430000" cy="53949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111496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LightGBM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4680" y="5111496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튜닝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5111496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42.55%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5111496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8.38%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511149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0E8F0"/>
                </a:solidFill>
              </a:rPr>
              <a:t>25.47%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약물별 예측 특성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A10A vs A10B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EBE"/>
                </a:solidFill>
              </a:rPr>
              <a:t>11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143000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3C96"/>
                </a:solidFill>
              </a:rPr>
              <a:t>A10A  인슐린 및 유사체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BE"/>
                </a:solidFill>
              </a:rPr>
              <a:t>MAPE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476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C96"/>
                </a:solidFill>
              </a:rPr>
              <a:t>16.12%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91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BE"/>
                </a:solidFill>
              </a:rPr>
              <a:t>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9476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C96"/>
                </a:solidFill>
              </a:rPr>
              <a:t>0.87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1691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BE"/>
                </a:solidFill>
              </a:rPr>
              <a:t>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59" y="19476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C96"/>
                </a:solidFill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1691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BE"/>
                </a:solidFill>
              </a:rPr>
              <a:t>월 평균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19476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3C96"/>
                </a:solidFill>
              </a:rPr>
              <a:t>13,363개/월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49631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8F0"/>
                </a:solidFill>
              </a:rPr>
              <a:t>· 변동성이 매우 높아 예측 난이도 상승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75234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8F0"/>
                </a:solidFill>
              </a:rPr>
              <a:t>· 소규모 구(용산·종로)에서 오차 집중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083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8F0"/>
                </a:solidFill>
              </a:rPr>
              <a:t>· Optuna 튜닝으로 38% → 16%로 개선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6440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8F0"/>
                </a:solidFill>
              </a:rPr>
              <a:t>· → 추가 개선: 소규모/대규모 구 분리 모델 검토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11430000" cy="24231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A10B  혈당강하제(인슐린 제외)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434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BE"/>
                </a:solidFill>
              </a:rPr>
              <a:t>MAPE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99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</a:rPr>
              <a:t>8.04%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3434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BE"/>
                </a:solidFill>
              </a:rPr>
              <a:t>R²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599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</a:rPr>
              <a:t>0.93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59" y="43434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BE"/>
                </a:solidFill>
              </a:rPr>
              <a:t>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59" y="4599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</a:rPr>
              <a:t>42%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9" y="43434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EBE"/>
                </a:solidFill>
              </a:rPr>
              <a:t>월 평균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4599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</a:rPr>
              <a:t>2,130,991개/월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1480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8F0"/>
                </a:solidFill>
              </a:rPr>
              <a:t>· A10A 대비 160배 규모, 상대적으로 안정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40410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8F0"/>
                </a:solidFill>
              </a:rPr>
              <a:t>· 2형 당뇨병(E11)이 처방 주도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6013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8F0"/>
                </a:solidFill>
              </a:rPr>
              <a:t>· 현재 feature 구성으로 한계점 도달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91616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8F0"/>
                </a:solidFill>
              </a:rPr>
              <a:t>· → 실무 투입 수준 (MAPE 8%)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한계 및 개선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EBE"/>
                </a:solidFill>
              </a:rPr>
              <a:t>12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164592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887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</a:rPr>
              <a:t>데이터 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361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서울시 25개 구만 분석 → 전국 시군구 데이터 확보 시 일반화 성능 기대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67128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67128"/>
            <a:ext cx="164592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128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인구 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2025-10 단일 스냅샷 → 월별 인구 변화 미반영 (연도별 데이터 수집 필요)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91256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191256"/>
            <a:ext cx="164592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3697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테스트 기간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844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6개월 테스트로 짧아 계절성 패턴 검증 불충분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15384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215384"/>
            <a:ext cx="16459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611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A10A 예측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0857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MAPE 16% — 소규모 구 분리 모델, 외부 변수(기온 등) 추가로 개선 여지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239512"/>
            <a:ext cx="114300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239512"/>
            <a:ext cx="164592" cy="91440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852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C96"/>
                </a:solidFill>
              </a:rPr>
              <a:t>A10B 한계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3270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8% 벽 — rolling_mean_6, lag_6 등 장기 lag feature 추가로 개선 검토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4114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결론 및 성과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51560"/>
            <a:ext cx="94457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64592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✓  5단계 완전한 파이프라인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EDA → 전처리 → 모델링 → 평가 → 튜닝 전 과정 완료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96312"/>
            <a:ext cx="112745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96312"/>
            <a:ext cx="164592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</a:rPr>
              <a:t>✓  데이터 누수 탐지 및 수정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9923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lag1_pct_change 누수 · early stopping test set 사용 등 3건 버그 수정으로 신뢰 가능한 평가 확보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58183"/>
            <a:ext cx="112745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58183"/>
            <a:ext cx="164592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22191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✓  Walk-forward CV + Optuna 튜닝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61104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시계열 데이터에 적합한 검증 체계 구축 → XGBoost 튜닝으로 MAPE 23.43% → 12.08%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20056"/>
            <a:ext cx="11274552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020056"/>
            <a:ext cx="164592" cy="1097280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8406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96"/>
                </a:solidFill>
              </a:rPr>
              <a:t>✓  A10B 실무 수준 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22975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0E8F0"/>
                </a:solidFill>
              </a:rPr>
              <a:t>혈당강하제 예측 MAPE 8.04% / R² 0.93 — 의료 수요 예측 실무 투입 가능한 수준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EBE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